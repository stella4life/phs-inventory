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61" r:id="rId5"/>
    <p:sldId id="262" r:id="rId6"/>
    <p:sldId id="266" r:id="rId7"/>
    <p:sldId id="267" r:id="rId8"/>
    <p:sldId id="274" r:id="rId9"/>
    <p:sldId id="268" r:id="rId10"/>
    <p:sldId id="26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  <a:srgbClr val="FFC629"/>
    <a:srgbClr val="B0B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87893" autoAdjust="0"/>
  </p:normalViewPr>
  <p:slideViewPr>
    <p:cSldViewPr snapToGrid="0" snapToObjects="1">
      <p:cViewPr varScale="1">
        <p:scale>
          <a:sx n="72" d="100"/>
          <a:sy n="72" d="100"/>
        </p:scale>
        <p:origin x="10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01F2E-DCCE-2C4C-8A3F-2C0A431C8AB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8FEAF-E87E-2748-9E52-C2F5DFA42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5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8FEAF-E87E-2748-9E52-C2F5DFA42BB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18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8FEAF-E87E-2748-9E52-C2F5DFA42B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47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>
          <a:gsLst>
            <a:gs pos="0">
              <a:srgbClr val="B0B3B2"/>
            </a:gs>
            <a:gs pos="74000">
              <a:srgbClr val="FFC629"/>
            </a:gs>
            <a:gs pos="100000">
              <a:srgbClr val="231F20"/>
            </a:gs>
            <a:gs pos="100000">
              <a:srgbClr val="231F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852AAB7-F7A2-6575-F6F4-2E71CEE5C359}"/>
              </a:ext>
            </a:extLst>
          </p:cNvPr>
          <p:cNvGrpSpPr/>
          <p:nvPr userDrawn="1"/>
        </p:nvGrpSpPr>
        <p:grpSpPr>
          <a:xfrm rot="16200000">
            <a:off x="-1103241" y="1103243"/>
            <a:ext cx="6858002" cy="4651514"/>
            <a:chOff x="-1" y="0"/>
            <a:chExt cx="12192001" cy="1825625"/>
          </a:xfrm>
        </p:grpSpPr>
        <p:sp>
          <p:nvSpPr>
            <p:cNvPr id="9" name="Document 8">
              <a:extLst>
                <a:ext uri="{FF2B5EF4-FFF2-40B4-BE49-F238E27FC236}">
                  <a16:creationId xmlns:a16="http://schemas.microsoft.com/office/drawing/2014/main" id="{E4451EDA-C18D-B9A2-D481-6B879E4D8A68}"/>
                </a:ext>
              </a:extLst>
            </p:cNvPr>
            <p:cNvSpPr/>
            <p:nvPr userDrawn="1"/>
          </p:nvSpPr>
          <p:spPr>
            <a:xfrm>
              <a:off x="0" y="1"/>
              <a:ext cx="12192000" cy="1825624"/>
            </a:xfrm>
            <a:prstGeom prst="flowChartDocument">
              <a:avLst/>
            </a:prstGeom>
            <a:solidFill>
              <a:srgbClr val="FFC629"/>
            </a:solidFill>
            <a:ln w="38100">
              <a:solidFill>
                <a:srgbClr val="231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3A1F6A45-4E66-4270-74C4-B7E8D2562874}"/>
                </a:ext>
              </a:extLst>
            </p:cNvPr>
            <p:cNvSpPr/>
            <p:nvPr userDrawn="1"/>
          </p:nvSpPr>
          <p:spPr>
            <a:xfrm flipH="1">
              <a:off x="0" y="0"/>
              <a:ext cx="12191999" cy="1690688"/>
            </a:xfrm>
            <a:prstGeom prst="flowChartDocument">
              <a:avLst/>
            </a:prstGeom>
            <a:solidFill>
              <a:srgbClr val="B0B3B2"/>
            </a:solidFill>
            <a:ln w="38100">
              <a:solidFill>
                <a:srgbClr val="231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Document 10">
              <a:extLst>
                <a:ext uri="{FF2B5EF4-FFF2-40B4-BE49-F238E27FC236}">
                  <a16:creationId xmlns:a16="http://schemas.microsoft.com/office/drawing/2014/main" id="{97D2CF7D-DCEA-04F3-0205-A01A981008C3}"/>
                </a:ext>
              </a:extLst>
            </p:cNvPr>
            <p:cNvSpPr/>
            <p:nvPr userDrawn="1"/>
          </p:nvSpPr>
          <p:spPr>
            <a:xfrm>
              <a:off x="-1" y="0"/>
              <a:ext cx="12191999" cy="1646238"/>
            </a:xfrm>
            <a:prstGeom prst="flowChartDocument">
              <a:avLst/>
            </a:prstGeom>
            <a:solidFill>
              <a:schemeClr val="tx1"/>
            </a:solidFill>
            <a:ln w="38100">
              <a:solidFill>
                <a:srgbClr val="231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F8DAFC-2AFE-89C3-570D-21A3E29D2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9200" y="1742027"/>
            <a:ext cx="5804452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DAF69-7004-43F5-CF91-B29F095D7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9199" y="4314604"/>
            <a:ext cx="5804453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231F2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5814F5-4E67-53E8-90E3-0D2D2FAE09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1699" t="16970" r="5840" b="17752"/>
          <a:stretch/>
        </p:blipFill>
        <p:spPr>
          <a:xfrm>
            <a:off x="244923" y="2935827"/>
            <a:ext cx="3243712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89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CB51-7BF7-8EF9-D975-9DED04B92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B9129-173B-D410-3A3F-51420F5F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B7299-127E-029C-1A61-BAB13B7B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B970F-4278-3C87-7D04-B8BDA2A3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2A272-8C70-16F0-342A-B0A92203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4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>
          <a:gsLst>
            <a:gs pos="0">
              <a:srgbClr val="B0B3B2">
                <a:alpha val="40879"/>
              </a:srgbClr>
            </a:gs>
            <a:gs pos="74000">
              <a:srgbClr val="FFC629">
                <a:alpha val="57734"/>
              </a:srgbClr>
            </a:gs>
            <a:gs pos="100000">
              <a:srgbClr val="231F20"/>
            </a:gs>
            <a:gs pos="100000">
              <a:srgbClr val="231F20">
                <a:alpha val="48046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90E2B-39A6-88C9-EDE0-C439CCABF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6888"/>
            <a:ext cx="685800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9E067-2D87-7C95-30E9-F0AB0846B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04743"/>
            <a:ext cx="6503988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231F2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06B59-8D6E-A49D-7CA5-81DB868B5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93EAC-12D2-E68C-C21F-8B7DCEF7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6B421-5B01-6955-2280-FF04C1BD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37993B-1B40-715A-D9CD-7ED544EF8AF9}"/>
              </a:ext>
            </a:extLst>
          </p:cNvPr>
          <p:cNvGrpSpPr/>
          <p:nvPr userDrawn="1"/>
        </p:nvGrpSpPr>
        <p:grpSpPr>
          <a:xfrm rot="10800000">
            <a:off x="0" y="5339555"/>
            <a:ext cx="12192000" cy="1500187"/>
            <a:chOff x="-1" y="0"/>
            <a:chExt cx="12192001" cy="1825625"/>
          </a:xfrm>
          <a:effectLst/>
          <a:scene3d>
            <a:camera prst="orthographicFront">
              <a:rot lat="0" lon="21299999" rev="0"/>
            </a:camera>
            <a:lightRig rig="threePt" dir="t"/>
          </a:scene3d>
        </p:grpSpPr>
        <p:sp>
          <p:nvSpPr>
            <p:cNvPr id="16" name="Document 15">
              <a:extLst>
                <a:ext uri="{FF2B5EF4-FFF2-40B4-BE49-F238E27FC236}">
                  <a16:creationId xmlns:a16="http://schemas.microsoft.com/office/drawing/2014/main" id="{2976B9FE-A774-4F4D-3231-196BB136FB67}"/>
                </a:ext>
              </a:extLst>
            </p:cNvPr>
            <p:cNvSpPr/>
            <p:nvPr userDrawn="1"/>
          </p:nvSpPr>
          <p:spPr>
            <a:xfrm>
              <a:off x="0" y="1"/>
              <a:ext cx="12192000" cy="1825624"/>
            </a:xfrm>
            <a:prstGeom prst="flowChartDocument">
              <a:avLst/>
            </a:prstGeom>
            <a:solidFill>
              <a:srgbClr val="FFC629"/>
            </a:solidFill>
            <a:ln w="38100">
              <a:solidFill>
                <a:srgbClr val="231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Document 16">
              <a:extLst>
                <a:ext uri="{FF2B5EF4-FFF2-40B4-BE49-F238E27FC236}">
                  <a16:creationId xmlns:a16="http://schemas.microsoft.com/office/drawing/2014/main" id="{12C2A713-9ADB-D922-A313-873C521A493A}"/>
                </a:ext>
              </a:extLst>
            </p:cNvPr>
            <p:cNvSpPr/>
            <p:nvPr userDrawn="1"/>
          </p:nvSpPr>
          <p:spPr>
            <a:xfrm flipH="1">
              <a:off x="0" y="0"/>
              <a:ext cx="12191999" cy="1690688"/>
            </a:xfrm>
            <a:prstGeom prst="flowChartDocument">
              <a:avLst/>
            </a:prstGeom>
            <a:solidFill>
              <a:srgbClr val="B0B3B2"/>
            </a:solidFill>
            <a:ln w="38100">
              <a:solidFill>
                <a:srgbClr val="231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Document 17">
              <a:extLst>
                <a:ext uri="{FF2B5EF4-FFF2-40B4-BE49-F238E27FC236}">
                  <a16:creationId xmlns:a16="http://schemas.microsoft.com/office/drawing/2014/main" id="{3D3CB9B3-7C94-4FA7-792C-64388A17E66D}"/>
                </a:ext>
              </a:extLst>
            </p:cNvPr>
            <p:cNvSpPr/>
            <p:nvPr userDrawn="1"/>
          </p:nvSpPr>
          <p:spPr>
            <a:xfrm>
              <a:off x="-1" y="0"/>
              <a:ext cx="12191999" cy="1646238"/>
            </a:xfrm>
            <a:prstGeom prst="flowChartDocument">
              <a:avLst/>
            </a:prstGeom>
            <a:solidFill>
              <a:schemeClr val="tx1"/>
            </a:solidFill>
            <a:ln w="38100">
              <a:solidFill>
                <a:srgbClr val="231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011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gradFill>
          <a:gsLst>
            <a:gs pos="0">
              <a:srgbClr val="B0B3B2"/>
            </a:gs>
            <a:gs pos="74000">
              <a:srgbClr val="FFC629"/>
            </a:gs>
            <a:gs pos="100000">
              <a:srgbClr val="231F20"/>
            </a:gs>
            <a:gs pos="100000">
              <a:srgbClr val="231F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3AFD-CAF1-B301-1854-FC7F9BE28E3B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Document 14">
            <a:extLst>
              <a:ext uri="{FF2B5EF4-FFF2-40B4-BE49-F238E27FC236}">
                <a16:creationId xmlns:a16="http://schemas.microsoft.com/office/drawing/2014/main" id="{BF0C8C6B-5A6D-C31E-17AF-4CCFA3379E0A}"/>
              </a:ext>
            </a:extLst>
          </p:cNvPr>
          <p:cNvSpPr/>
          <p:nvPr userDrawn="1"/>
        </p:nvSpPr>
        <p:spPr>
          <a:xfrm>
            <a:off x="6172200" y="1825623"/>
            <a:ext cx="5181600" cy="4895849"/>
          </a:xfrm>
          <a:prstGeom prst="flowChartDocument">
            <a:avLst/>
          </a:prstGeom>
          <a:solidFill>
            <a:srgbClr val="B0B3B2"/>
          </a:solidFill>
          <a:ln w="38100"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F9E62357-3747-D4A7-0681-0E3E4786B8B6}"/>
              </a:ext>
            </a:extLst>
          </p:cNvPr>
          <p:cNvSpPr/>
          <p:nvPr userDrawn="1"/>
        </p:nvSpPr>
        <p:spPr>
          <a:xfrm>
            <a:off x="838200" y="1825627"/>
            <a:ext cx="5181600" cy="4895848"/>
          </a:xfrm>
          <a:prstGeom prst="flowChartDocument">
            <a:avLst/>
          </a:prstGeom>
          <a:solidFill>
            <a:srgbClr val="FFC629"/>
          </a:solidFill>
          <a:ln w="38100"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7A0B0-DEB8-3C2D-B698-F93972699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30399"/>
            <a:ext cx="5181600" cy="4246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B4FCC-C7FB-1012-5B15-A44F3C32D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30399"/>
            <a:ext cx="5181600" cy="4246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E3EC5-63B9-4CB5-1045-F3E34D1C1BA6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854AC-E06E-94EC-2DBD-6549C89C75D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30CF9-8740-EBE6-4AC2-363B7970485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5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gradFill>
          <a:gsLst>
            <a:gs pos="0">
              <a:srgbClr val="B0B3B2"/>
            </a:gs>
            <a:gs pos="74000">
              <a:srgbClr val="FFC629"/>
            </a:gs>
            <a:gs pos="100000">
              <a:srgbClr val="231F20"/>
            </a:gs>
            <a:gs pos="100000">
              <a:srgbClr val="231F20">
                <a:alpha val="48046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cument 10">
            <a:extLst>
              <a:ext uri="{FF2B5EF4-FFF2-40B4-BE49-F238E27FC236}">
                <a16:creationId xmlns:a16="http://schemas.microsoft.com/office/drawing/2014/main" id="{5F2F7301-DC3B-EC93-BF56-ACC664D600B4}"/>
              </a:ext>
            </a:extLst>
          </p:cNvPr>
          <p:cNvSpPr/>
          <p:nvPr userDrawn="1"/>
        </p:nvSpPr>
        <p:spPr>
          <a:xfrm>
            <a:off x="6172200" y="2505072"/>
            <a:ext cx="5181600" cy="4216400"/>
          </a:xfrm>
          <a:prstGeom prst="flowChartDocument">
            <a:avLst/>
          </a:prstGeom>
          <a:solidFill>
            <a:srgbClr val="B0B3B2"/>
          </a:solidFill>
          <a:ln w="38100"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5EC17-2A63-8B62-2C87-D642BDA5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B609616F-8CD3-378A-1269-2B117AB85983}"/>
              </a:ext>
            </a:extLst>
          </p:cNvPr>
          <p:cNvSpPr/>
          <p:nvPr userDrawn="1"/>
        </p:nvSpPr>
        <p:spPr>
          <a:xfrm>
            <a:off x="838200" y="2505075"/>
            <a:ext cx="5181600" cy="4216400"/>
          </a:xfrm>
          <a:prstGeom prst="flowChartDocument">
            <a:avLst/>
          </a:prstGeom>
          <a:solidFill>
            <a:srgbClr val="FFC629"/>
          </a:solidFill>
          <a:ln w="38100"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A348C-0539-BA2D-3843-FE22F5645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221AD-72B0-E560-3D1E-62E3F4DEF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71761"/>
            <a:ext cx="5157787" cy="35179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B2809-D298-F206-BF8B-6F26FE3BC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0568BE-D470-E2A5-66CF-464AB5D868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71761"/>
            <a:ext cx="5183188" cy="3517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2FFF24-BE7F-2810-8304-417970F7D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F59FB-07E8-E559-CDAF-F765B87F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78EBA-A241-D807-940B-C240599E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11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5480B-8080-6B13-3C76-B886D03A7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07FFA-32F7-22A0-0160-2121D8478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C9875-36BB-EEE6-7158-92EA58F4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0BA344B-DEDB-B58B-ED5D-6AF97375A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917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BD8C-D9A6-45A7-CCE2-DA8BFD198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22982-2137-C67B-B581-63965D6AD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46CC4-925E-4DB7-4825-A51C55D2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473F2-49A7-26BD-4D00-BE790CE5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62313BF8-8901-3C56-6CC7-9CD4E5F4A67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942975" y="1971675"/>
            <a:ext cx="10410825" cy="40290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38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93C2-B69E-81B4-FD9F-F993A024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6823E-28CB-47F8-D942-6924B4C7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98B8A-3B58-BE10-3C07-5E739CCB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E3137-DA15-B0B7-2B3F-1A6F2B5B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BCB72A38-6CA2-EBE0-16F8-02DCF366621A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838200" y="1851025"/>
            <a:ext cx="10591800" cy="42989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7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ACF84-72C3-B5B1-0EFD-C4EB182D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8547F-DADC-001F-0249-56CC4D24C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0671F-5D06-2388-3134-9B338D2A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201D61-709B-A518-1D1E-BBDBF068F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-118903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0290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50DD-348F-A693-5241-4B4E56CC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11" y="397566"/>
            <a:ext cx="7324346" cy="78519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F6E6E-8754-0B47-C612-B0B37B894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11" y="2014882"/>
            <a:ext cx="6172200" cy="39328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D790D-1233-033B-7FC9-A90DEE6FE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2351" y="2112962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1465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50DD-348F-A693-5241-4B4E56CC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11" y="397566"/>
            <a:ext cx="7324346" cy="78519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F6E6E-8754-0B47-C612-B0B37B894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928191"/>
            <a:ext cx="6172200" cy="39328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D790D-1233-033B-7FC9-A90DEE6FE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5383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50DD-348F-A693-5241-4B4E56CC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11" y="397566"/>
            <a:ext cx="8136644" cy="78519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09945B-ECBF-2F5B-F284-7C03884B24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5963" y="2078038"/>
            <a:ext cx="5047528" cy="378301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D96D538-24EB-558A-F1ED-B7FDB1EE6C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078038"/>
            <a:ext cx="5570104" cy="37830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3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1">
          <a:blip r:embed="rId2">
            <a:alphaModFix amt="41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cument 7">
            <a:extLst>
              <a:ext uri="{FF2B5EF4-FFF2-40B4-BE49-F238E27FC236}">
                <a16:creationId xmlns:a16="http://schemas.microsoft.com/office/drawing/2014/main" id="{EFA78C8C-434F-6BBD-39DD-F2ECFB0C3288}"/>
              </a:ext>
            </a:extLst>
          </p:cNvPr>
          <p:cNvSpPr/>
          <p:nvPr userDrawn="1"/>
        </p:nvSpPr>
        <p:spPr>
          <a:xfrm>
            <a:off x="654050" y="432917"/>
            <a:ext cx="4114799" cy="5699527"/>
          </a:xfrm>
          <a:prstGeom prst="flowChartDocument">
            <a:avLst/>
          </a:prstGeom>
          <a:solidFill>
            <a:srgbClr val="B0B3B2">
              <a:alpha val="80000"/>
            </a:srgbClr>
          </a:solidFill>
          <a:ln w="38100"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C59695-82FA-7D82-ACA3-6AD223E53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611810"/>
            <a:ext cx="3932237" cy="1221684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0D5E8-F822-8A8F-02D0-960AB5584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5330" y="2057400"/>
            <a:ext cx="3932237" cy="3285309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BA391-2E61-92AA-D194-3C1DD1E48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0"/>
            <a:ext cx="6465473" cy="60424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04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CDD7-ADCA-311F-0EB8-1DAF2C76F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6B186-87AC-A786-A752-0B46BD878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09826-47BA-D1D7-915F-7985F4E2B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AEEBD-9429-A048-FC22-807A5DFDC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EC6F0-DB2A-AA3E-5897-C1342D34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80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292D1E-5262-2FC5-CBA3-8B7F6ABC4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102B7-EA9A-0D0F-81B2-E8580AE12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18D8C-7A0C-0FB0-68EA-2E92E1ED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914CA-AB6E-7C1E-1F62-3606E8C1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844BF-E86F-CA9F-66E3-ECCF1980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92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43D9925-5865-45F2-C43D-43779E9875DC}"/>
              </a:ext>
            </a:extLst>
          </p:cNvPr>
          <p:cNvGrpSpPr/>
          <p:nvPr userDrawn="1"/>
        </p:nvGrpSpPr>
        <p:grpSpPr>
          <a:xfrm>
            <a:off x="-1" y="0"/>
            <a:ext cx="12192001" cy="1825625"/>
            <a:chOff x="-1" y="0"/>
            <a:chExt cx="12192001" cy="1825625"/>
          </a:xfrm>
        </p:grpSpPr>
        <p:sp>
          <p:nvSpPr>
            <p:cNvPr id="8" name="Document 7">
              <a:extLst>
                <a:ext uri="{FF2B5EF4-FFF2-40B4-BE49-F238E27FC236}">
                  <a16:creationId xmlns:a16="http://schemas.microsoft.com/office/drawing/2014/main" id="{37EB10FD-D17F-EB2E-1721-678C8ABB12D9}"/>
                </a:ext>
              </a:extLst>
            </p:cNvPr>
            <p:cNvSpPr/>
            <p:nvPr userDrawn="1"/>
          </p:nvSpPr>
          <p:spPr>
            <a:xfrm>
              <a:off x="0" y="1"/>
              <a:ext cx="12192000" cy="1825624"/>
            </a:xfrm>
            <a:prstGeom prst="flowChartDocument">
              <a:avLst/>
            </a:prstGeom>
            <a:solidFill>
              <a:srgbClr val="FFC629"/>
            </a:solidFill>
            <a:ln w="38100">
              <a:solidFill>
                <a:srgbClr val="231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Document 8">
              <a:extLst>
                <a:ext uri="{FF2B5EF4-FFF2-40B4-BE49-F238E27FC236}">
                  <a16:creationId xmlns:a16="http://schemas.microsoft.com/office/drawing/2014/main" id="{FFB3FF30-7FFD-9391-CDE3-51E057B2EC1D}"/>
                </a:ext>
              </a:extLst>
            </p:cNvPr>
            <p:cNvSpPr/>
            <p:nvPr userDrawn="1"/>
          </p:nvSpPr>
          <p:spPr>
            <a:xfrm flipH="1">
              <a:off x="0" y="0"/>
              <a:ext cx="12191999" cy="1690688"/>
            </a:xfrm>
            <a:prstGeom prst="flowChartDocument">
              <a:avLst/>
            </a:prstGeom>
            <a:solidFill>
              <a:srgbClr val="231F20"/>
            </a:solidFill>
            <a:ln w="38100">
              <a:solidFill>
                <a:srgbClr val="231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B727EEF8-E2A0-9D9D-A0ED-CD0AAD2F3E47}"/>
                </a:ext>
              </a:extLst>
            </p:cNvPr>
            <p:cNvSpPr/>
            <p:nvPr userDrawn="1"/>
          </p:nvSpPr>
          <p:spPr>
            <a:xfrm>
              <a:off x="-1" y="0"/>
              <a:ext cx="12191999" cy="1646238"/>
            </a:xfrm>
            <a:prstGeom prst="flowChartDocument">
              <a:avLst/>
            </a:prstGeom>
            <a:solidFill>
              <a:srgbClr val="B0B3B2"/>
            </a:solidFill>
            <a:ln w="38100">
              <a:solidFill>
                <a:srgbClr val="231F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316DDC-8280-59F4-7C9E-A1DE386B7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8AB3D-3273-B65D-20C1-A7D0F0E0C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717"/>
            <a:ext cx="10515600" cy="4236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6F2B1-4237-C898-2470-CA7DD6835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E6140-7369-574C-8DBA-1CEBA3CDB41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18A9B-88B0-4715-C03B-A5E23A088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B3B04-7F88-4D4E-BB6A-69364D74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2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61" r:id="rId8"/>
    <p:sldLayoutId id="2147483655" r:id="rId9"/>
    <p:sldLayoutId id="2147483662" r:id="rId10"/>
    <p:sldLayoutId id="2147483656" r:id="rId11"/>
    <p:sldLayoutId id="2147483663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ln>
            <a:noFill/>
          </a:ln>
          <a:solidFill>
            <a:srgbClr val="231F2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booklm.google.com/" TargetMode="External"/><Relationship Id="rId2" Type="http://schemas.openxmlformats.org/officeDocument/2006/relationships/hyperlink" Target="https://www.cms.gov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hat.openai.com/chat" TargetMode="External"/><Relationship Id="rId4" Type="http://schemas.openxmlformats.org/officeDocument/2006/relationships/hyperlink" Target="https://www.ncqa.org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DB3B-2955-409B-9337-1D501FF99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0017" y="-1150260"/>
            <a:ext cx="6854969" cy="614504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Preventative Health Screening Inventory Database</a:t>
            </a:r>
            <a:br>
              <a:rPr lang="en-US" dirty="0"/>
            </a:br>
            <a:r>
              <a:rPr lang="en-US" sz="4800" dirty="0"/>
              <a:t>(PHS Database)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Stella </a:t>
            </a:r>
            <a:r>
              <a:rPr lang="en-US" sz="2800" dirty="0" err="1"/>
              <a:t>Anyokwu</a:t>
            </a:r>
            <a:r>
              <a:rPr lang="en-US" sz="2800" dirty="0"/>
              <a:t> &amp; Candice Lee</a:t>
            </a:r>
          </a:p>
        </p:txBody>
      </p:sp>
    </p:spTree>
    <p:extLst>
      <p:ext uri="{BB962C8B-B14F-4D97-AF65-F5344CB8AC3E}">
        <p14:creationId xmlns:p14="http://schemas.microsoft.com/office/powerpoint/2010/main" val="3595397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60A1E-AF50-EAF6-BF34-644CF92F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608511-F895-5D18-6149-208CC78D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" y="151765"/>
            <a:ext cx="10515600" cy="1325563"/>
          </a:xfrm>
        </p:spPr>
        <p:txBody>
          <a:bodyPr/>
          <a:lstStyle/>
          <a:p>
            <a:pPr algn="ctr"/>
            <a:r>
              <a:rPr kumimoji="0" lang="en-US" sz="4400" b="1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LT Pro"/>
                <a:ea typeface="+mj-ea"/>
                <a:cs typeface="+mj-cs"/>
              </a:rPr>
              <a:t>What is the PHS Database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2B4C7E-B188-1EBA-2D53-BEA0D789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681" y="2198900"/>
            <a:ext cx="10764819" cy="3782351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rPr lang="en-US" sz="2000" dirty="0">
                <a:latin typeface="Avenir Next LT Pro" panose="020B0504020202020204" pitchFamily="34" charset="0"/>
              </a:rPr>
              <a:t>The PHS database is a centralized inventory of patient preventive health screening data.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rPr lang="en-US" sz="2000" dirty="0">
                <a:latin typeface="Avenir Next LT Pro" panose="020B0504020202020204" pitchFamily="34" charset="0"/>
              </a:rPr>
              <a:t>It will track key interventions across major categories:</a:t>
            </a:r>
          </a:p>
          <a:p>
            <a:pPr lvl="1">
              <a:spcAft>
                <a:spcPts val="600"/>
              </a:spcAft>
              <a:defRPr sz="1300">
                <a:solidFill>
                  <a:srgbClr val="000000"/>
                </a:solidFill>
              </a:defRPr>
            </a:pPr>
            <a:r>
              <a:rPr lang="en-US" sz="2000" dirty="0">
                <a:latin typeface="Avenir Next LT Pro" panose="020B0504020202020204" pitchFamily="34" charset="0"/>
              </a:rPr>
              <a:t>Colorectal: Colonoscopy, FIT, Cologuard</a:t>
            </a:r>
          </a:p>
          <a:p>
            <a:pPr lvl="1">
              <a:spcAft>
                <a:spcPts val="600"/>
              </a:spcAft>
              <a:defRPr sz="1300">
                <a:solidFill>
                  <a:srgbClr val="000000"/>
                </a:solidFill>
              </a:defRPr>
            </a:pPr>
            <a:r>
              <a:rPr lang="en-US" sz="2000" dirty="0">
                <a:latin typeface="Avenir Next LT Pro" panose="020B0504020202020204" pitchFamily="34" charset="0"/>
              </a:rPr>
              <a:t>Women's health: Mammograms, Pap smears</a:t>
            </a:r>
          </a:p>
          <a:p>
            <a:pPr lvl="1">
              <a:spcAft>
                <a:spcPts val="600"/>
              </a:spcAft>
              <a:defRPr sz="1300">
                <a:solidFill>
                  <a:srgbClr val="000000"/>
                </a:solidFill>
              </a:defRPr>
            </a:pPr>
            <a:r>
              <a:rPr lang="en-US" sz="2000" dirty="0">
                <a:latin typeface="Avenir Next LT Pro" panose="020B0504020202020204" pitchFamily="34" charset="0"/>
              </a:rPr>
              <a:t>Cardiovascular: Blood pressure, comprehensive lab panels</a:t>
            </a:r>
          </a:p>
          <a:p>
            <a:pPr lvl="1">
              <a:spcAft>
                <a:spcPts val="600"/>
              </a:spcAft>
              <a:defRPr sz="1300">
                <a:solidFill>
                  <a:srgbClr val="000000"/>
                </a:solidFill>
              </a:defRPr>
            </a:pPr>
            <a:r>
              <a:rPr lang="en-US" sz="2000" dirty="0">
                <a:latin typeface="Avenir Next LT Pro" panose="020B0504020202020204" pitchFamily="34" charset="0"/>
              </a:rPr>
              <a:t>Diabetes: A1C labs, retinal exams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rPr lang="en-US" sz="2000" dirty="0">
                <a:latin typeface="Avenir Next LT Pro" panose="020B0504020202020204" pitchFamily="34" charset="0"/>
              </a:rPr>
              <a:t>Preventive screening data is often fragmented across systems, medical offices, and lab reports.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rPr lang="en-US" sz="2000" dirty="0">
                <a:latin typeface="Avenir Next LT Pro" panose="020B0504020202020204" pitchFamily="34" charset="0"/>
              </a:rPr>
              <a:t>Care teams lack one clear view of which patients are due, overdue, or completed.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</a:defRPr>
            </a:pPr>
            <a:r>
              <a:rPr lang="en-US" sz="2000" dirty="0">
                <a:latin typeface="Avenir Next LT Pro" panose="020B0504020202020204" pitchFamily="34" charset="0"/>
              </a:rPr>
              <a:t>This missing data affects outcomes and plan ratings, including HEDIS and CMS Star Ratings</a:t>
            </a: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88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9D603-A1D5-5CBA-F53E-59A4123CD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192C-83DB-ADDF-0675-308E3DFD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2"/>
            <a:ext cx="10375760" cy="815094"/>
          </a:xfrm>
        </p:spPr>
        <p:txBody>
          <a:bodyPr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System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3176E1-C46A-4262-EBFA-84C3E46E5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236670"/>
            <a:ext cx="12192001" cy="562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2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D24DB-0381-3B0C-B786-0AB72C63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92169-A08B-6108-8711-960381180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7305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Key Benefits &amp; Organizational 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3BAE95-D9C0-B4FA-FF82-73F23FA4A888}"/>
              </a:ext>
            </a:extLst>
          </p:cNvPr>
          <p:cNvSpPr txBox="1"/>
          <p:nvPr/>
        </p:nvSpPr>
        <p:spPr>
          <a:xfrm>
            <a:off x="1622323" y="1864340"/>
            <a:ext cx="893752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1F20"/>
                </a:solidFill>
                <a:latin typeface="Avenir Next LT Pro" panose="020B0504020202020204" pitchFamily="34" charset="0"/>
              </a:rPr>
              <a:t>Stores completed screening data from multiple healthcare collection hubs in one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31F20"/>
              </a:solidFill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1F20"/>
                </a:solidFill>
                <a:latin typeface="Avenir Next LT Pro" panose="020B0504020202020204" pitchFamily="34" charset="0"/>
              </a:rPr>
              <a:t>Generates CSV reports for easy data sharing and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31F20"/>
              </a:solidFill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1F20"/>
                </a:solidFill>
                <a:latin typeface="Avenir Next LT Pro" panose="020B0504020202020204" pitchFamily="34" charset="0"/>
              </a:rPr>
              <a:t>Helps identify patients who are compliant with required screenings.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31F20"/>
              </a:solidFill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1F20"/>
                </a:solidFill>
                <a:latin typeface="Avenir Next LT Pro" panose="020B0504020202020204" pitchFamily="34" charset="0"/>
              </a:rPr>
              <a:t>Supports HEDIS and CMS Star Ratings reporting requirements.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31F20"/>
              </a:solidFill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1F20"/>
                </a:solidFill>
                <a:latin typeface="Avenir Next LT Pro" panose="020B0504020202020204" pitchFamily="34" charset="0"/>
              </a:rPr>
              <a:t>Contributes to improved healthcare quality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31F20"/>
              </a:solidFill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1F20"/>
                </a:solidFill>
                <a:latin typeface="Avenir Next LT Pro" panose="020B0504020202020204" pitchFamily="34" charset="0"/>
              </a:rPr>
              <a:t> Provides a basic but practical framework for preventive health screening management.</a:t>
            </a:r>
          </a:p>
        </p:txBody>
      </p:sp>
    </p:spTree>
    <p:extLst>
      <p:ext uri="{BB962C8B-B14F-4D97-AF65-F5344CB8AC3E}">
        <p14:creationId xmlns:p14="http://schemas.microsoft.com/office/powerpoint/2010/main" val="25848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E7BA9-E62C-E16E-220A-A24421A9A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15541-09A7-7E62-0086-C045C4654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889" y="312488"/>
            <a:ext cx="10217888" cy="2852737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DEMO</a:t>
            </a:r>
            <a:br>
              <a:rPr lang="en-US" sz="6600" dirty="0"/>
            </a:br>
            <a:r>
              <a:rPr lang="en-US" sz="3600" dirty="0"/>
              <a:t>https://github.com/Stella4life/PHS-Inventory</a:t>
            </a:r>
          </a:p>
        </p:txBody>
      </p:sp>
    </p:spTree>
    <p:extLst>
      <p:ext uri="{BB962C8B-B14F-4D97-AF65-F5344CB8AC3E}">
        <p14:creationId xmlns:p14="http://schemas.microsoft.com/office/powerpoint/2010/main" val="1986904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0193-DE0B-E9C9-E4AF-A1ADDCF9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FA03-3E69-B89B-36F9-2E478B5F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7316" y="122212"/>
            <a:ext cx="12418142" cy="1325563"/>
          </a:xfrm>
        </p:spPr>
        <p:txBody>
          <a:bodyPr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Future Enhancements &amp; System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D12EC-8380-5BFF-5E55-4039C87FC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717"/>
            <a:ext cx="10515600" cy="4420754"/>
          </a:xfrm>
        </p:spPr>
        <p:txBody>
          <a:bodyPr>
            <a:normAutofit/>
          </a:bodyPr>
          <a:lstStyle/>
          <a:p>
            <a:pPr lvl="0"/>
            <a:endParaRPr lang="en-US" dirty="0">
              <a:latin typeface="Avenir Next LT Pro" panose="020B0504020202020204" pitchFamily="34" charset="0"/>
            </a:endParaRPr>
          </a:p>
          <a:p>
            <a:pPr lvl="0"/>
            <a:r>
              <a:rPr lang="en-US" dirty="0">
                <a:latin typeface="Avenir Next LT Pro" panose="020B0504020202020204" pitchFamily="34" charset="0"/>
              </a:rPr>
              <a:t>Develop a user interface for easier navigation and usability.</a:t>
            </a:r>
          </a:p>
          <a:p>
            <a:pPr lvl="0"/>
            <a:r>
              <a:rPr lang="en-US" dirty="0">
                <a:latin typeface="Avenir Next LT Pro" panose="020B0504020202020204" pitchFamily="34" charset="0"/>
              </a:rPr>
              <a:t>Adapt the code to help prevent duplicate patient records/ screening records.</a:t>
            </a:r>
          </a:p>
          <a:p>
            <a:pPr lvl="0"/>
            <a:r>
              <a:rPr lang="en-US" dirty="0">
                <a:latin typeface="Avenir Next LT Pro" panose="020B0504020202020204" pitchFamily="34" charset="0"/>
              </a:rPr>
              <a:t>Integrate with electronic health record (EHR) systems. </a:t>
            </a:r>
          </a:p>
          <a:p>
            <a:pPr marL="0" lvl="0" indent="0">
              <a:buNone/>
            </a:pPr>
            <a:endParaRPr lang="en-US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3A77C-537F-56F9-7813-41900774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6D64-EA29-8F1D-D0F8-F3C0C020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315" y="78658"/>
            <a:ext cx="6858001" cy="90940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4EC09-C703-D163-4744-88BAF9393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9071" y="1432047"/>
            <a:ext cx="9350478" cy="30907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Centers for Medicare &amp; Medicaid Services. (2026). </a:t>
            </a:r>
            <a:r>
              <a:rPr lang="en-US" i="1" dirty="0"/>
              <a:t>Home</a:t>
            </a:r>
            <a:r>
              <a:rPr lang="en-US" dirty="0"/>
              <a:t>. </a:t>
            </a:r>
            <a:r>
              <a:rPr lang="en-US" u="sng" dirty="0">
                <a:hlinkClick r:id="rId2"/>
              </a:rPr>
              <a:t>https://www.cms.gov</a:t>
            </a:r>
            <a:endParaRPr lang="en-US" dirty="0"/>
          </a:p>
          <a:p>
            <a:r>
              <a:rPr lang="en-US" dirty="0"/>
              <a:t>Google. (2026). </a:t>
            </a:r>
            <a:r>
              <a:rPr lang="en-US" i="1" dirty="0" err="1"/>
              <a:t>NotebookLM</a:t>
            </a:r>
            <a:r>
              <a:rPr lang="en-US" dirty="0"/>
              <a:t> [Large language model]. </a:t>
            </a:r>
            <a:r>
              <a:rPr lang="en-US" u="sng" dirty="0">
                <a:hlinkClick r:id="rId3"/>
              </a:rPr>
              <a:t>https://notebooklm.google.com/</a:t>
            </a:r>
            <a:endParaRPr lang="en-US" dirty="0"/>
          </a:p>
          <a:p>
            <a:r>
              <a:rPr lang="en-US" dirty="0"/>
              <a:t>National Committee for Quality Assurance. (2026). </a:t>
            </a:r>
            <a:r>
              <a:rPr lang="en-US" i="1" dirty="0"/>
              <a:t>Home</a:t>
            </a:r>
            <a:r>
              <a:rPr lang="en-US" dirty="0"/>
              <a:t>. </a:t>
            </a:r>
            <a:r>
              <a:rPr lang="en-US" u="sng" dirty="0">
                <a:hlinkClick r:id="rId4"/>
              </a:rPr>
              <a:t>https://www.ncqa.org</a:t>
            </a:r>
            <a:endParaRPr lang="en-US" dirty="0"/>
          </a:p>
          <a:p>
            <a:r>
              <a:rPr lang="en-US" dirty="0"/>
              <a:t>OpenAI. (2026). </a:t>
            </a:r>
            <a:r>
              <a:rPr lang="en-US" i="1" dirty="0"/>
              <a:t>ChatGPT (May 13 version)</a:t>
            </a:r>
            <a:r>
              <a:rPr lang="en-US" dirty="0"/>
              <a:t> [Large language model]. </a:t>
            </a:r>
            <a:r>
              <a:rPr lang="en-US" u="sng" dirty="0">
                <a:hlinkClick r:id="rId5"/>
              </a:rPr>
              <a:t>https://chat.openai.com/chat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444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1C220-B073-72B9-DB63-36D81D33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C4E872-60FD-058A-4782-91139FFCA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72" y="1308456"/>
            <a:ext cx="5299470" cy="424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24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88a863b-355c-41f3-aee1-8db65f6ce0c2">
      <Terms xmlns="http://schemas.microsoft.com/office/infopath/2007/PartnerControls"/>
    </lcf76f155ced4ddcb4097134ff3c332f>
    <TaxCatchAll xmlns="c0b4c7bf-f244-4ca3-8791-db132031fe5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7A2776DE93334A97157C7830579D86" ma:contentTypeVersion="16" ma:contentTypeDescription="Create a new document." ma:contentTypeScope="" ma:versionID="0b151ae18a03261ce26a0d25b44960c1">
  <xsd:schema xmlns:xsd="http://www.w3.org/2001/XMLSchema" xmlns:xs="http://www.w3.org/2001/XMLSchema" xmlns:p="http://schemas.microsoft.com/office/2006/metadata/properties" xmlns:ns2="388a863b-355c-41f3-aee1-8db65f6ce0c2" xmlns:ns3="c0b4c7bf-f244-4ca3-8791-db132031fe58" targetNamespace="http://schemas.microsoft.com/office/2006/metadata/properties" ma:root="true" ma:fieldsID="9b4b3f08b5d64979df2080973592ae40" ns2:_="" ns3:_="">
    <xsd:import namespace="388a863b-355c-41f3-aee1-8db65f6ce0c2"/>
    <xsd:import namespace="c0b4c7bf-f244-4ca3-8791-db132031fe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8a863b-355c-41f3-aee1-8db65f6ce0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516867a8-d3dd-450c-8722-94d742a2ad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b4c7bf-f244-4ca3-8791-db132031fe5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58357ad-6b3e-4538-be36-6976325dfae2}" ma:internalName="TaxCatchAll" ma:showField="CatchAllData" ma:web="c0b4c7bf-f244-4ca3-8791-db132031fe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23FE4A-BD48-4C28-9D7B-05B4AE93D1A9}">
  <ds:schemaRefs>
    <ds:schemaRef ds:uri="http://purl.org/dc/dcmitype/"/>
    <ds:schemaRef ds:uri="c0b4c7bf-f244-4ca3-8791-db132031fe58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388a863b-355c-41f3-aee1-8db65f6ce0c2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D7B2AA-5341-4485-A2F5-6E2705F3EFD7}">
  <ds:schemaRefs>
    <ds:schemaRef ds:uri="388a863b-355c-41f3-aee1-8db65f6ce0c2"/>
    <ds:schemaRef ds:uri="c0b4c7bf-f244-4ca3-8791-db132031fe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EDD922-60FC-4261-9A6F-B7F615A548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23171</TotalTime>
  <Words>324</Words>
  <Application>Microsoft Office PowerPoint</Application>
  <PresentationFormat>Widescreen</PresentationFormat>
  <Paragraphs>37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Calibri</vt:lpstr>
      <vt:lpstr>Office Theme</vt:lpstr>
      <vt:lpstr>Preventative Health Screening Inventory Database (PHS Database)  Stella Anyokwu &amp; Candice Lee</vt:lpstr>
      <vt:lpstr>What is the PHS Database</vt:lpstr>
      <vt:lpstr>System Architecture</vt:lpstr>
      <vt:lpstr>Key Benefits &amp; Organizational Value</vt:lpstr>
      <vt:lpstr>DEMO https://github.com/Stella4life/PHS-Inventory</vt:lpstr>
      <vt:lpstr>Future Enhancements &amp; System Expansion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Rodenbeck</dc:creator>
  <cp:lastModifiedBy>Candice Lee</cp:lastModifiedBy>
  <cp:revision>18</cp:revision>
  <dcterms:created xsi:type="dcterms:W3CDTF">2022-06-16T18:12:39Z</dcterms:created>
  <dcterms:modified xsi:type="dcterms:W3CDTF">2026-05-05T16:53:59Z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0x010100467A2776DE93334A97157C7830579D86</vt:lpwstr>
  </property>
  <property fmtid="{D5CDD505-2E9C-101B-9397-08002B2CF9AE}" pid="3" name="MediaServiceImageTags">
    <vt:lpwstr/>
  </property>
</Properties>
</file>